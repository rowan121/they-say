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E8EEF5"/>
                </a:solidFill>
                <a:latin typeface="Helvetica"/>
              </a:rPr>
              <a:t>They Say · GroundTruth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71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8ECBFF"/>
                </a:solidFill>
                <a:latin typeface="Helvetica"/>
              </a:rPr>
              <a:t>Every claim has a citation trail. We trace it to the ground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AA7B5"/>
                </a:solidFill>
                <a:latin typeface="Helvetica"/>
              </a:rPr>
              <a:t>Graph database + LLM pipeline that tracks how scientific claims mutate as they spread —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9AA7B5"/>
                </a:solidFill>
                <a:latin typeface="Helvetica"/>
              </a:rPr>
              <a:t>and finds the papers that unknowingly keep them alive.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685"/>
                </a:solidFill>
                <a:latin typeface="Helvetica"/>
              </a:rPr>
              <a:t>rowan121.github.io/they-say  ·  github.com/Rowan121/they-say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ECBFF"/>
                </a:solidFill>
                <a:latin typeface="Helvetica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5"/>
                </a:solidFill>
                <a:latin typeface="Helvetica"/>
              </a:rPr>
              <a:t>"Common knowledge" is often not true —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5"/>
                </a:solidFill>
                <a:latin typeface="Helvetica"/>
              </a:rPr>
              <a:t>and nobody checks the citation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E8EEF5"/>
                </a:solidFill>
                <a:latin typeface="Helvetica"/>
              </a:rPr>
              <a:t>• Claims harden into “common knowledge” through repetition, not verification.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0">
                <a:solidFill>
                  <a:srgbClr val="E8EEF5"/>
                </a:solidFill>
                <a:latin typeface="Helvetica"/>
              </a:rPr>
              <a:t>• By the time a claim is on every blog, the original paper is buried — and often never said it.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0">
                <a:solidFill>
                  <a:srgbClr val="E8EEF5"/>
                </a:solidFill>
                <a:latin typeface="Helvetica"/>
              </a:rPr>
              <a:t>• Each new citation makes the claim look more established than it is.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0">
                <a:solidFill>
                  <a:srgbClr val="E8EEF5"/>
                </a:solidFill>
                <a:latin typeface="Helvetica"/>
              </a:rPr>
              <a:t>• The people best positioned to catch it — the authors citing it — can’t see how the claim evolved over time.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FF7A7A"/>
                </a:solidFill>
                <a:latin typeface="Helvetica"/>
              </a:rPr>
              <a:t>• Today there is no tool that answers: “what did the source actually find, and when did the claim drift?”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ECBFF"/>
                </a:solidFill>
                <a:latin typeface="Helvetica"/>
              </a:rPr>
              <a:t>CASE STUDY · THE HUMMINGBIRD 1:4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5"/>
                </a:solidFill>
                <a:latin typeface="Helvetica"/>
              </a:rPr>
              <a:t>“Hummingbirds need 1 part sugar to 4 parts water.”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7B5"/>
                </a:solidFill>
                <a:latin typeface="Helvetica"/>
              </a:rPr>
              <a:t>Everyone knows it. Every feeder site repeats it. So we traced every citation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0">
                <a:solidFill>
                  <a:srgbClr val="E8EEF5"/>
                </a:solidFill>
                <a:latin typeface="Helvetica"/>
              </a:rPr>
              <a:t>• 20 documents tracked: blogs, magazines, government pages, and the underlying science.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0">
                <a:solidFill>
                  <a:srgbClr val="E8EEF5"/>
                </a:solidFill>
                <a:latin typeface="Helvetica"/>
              </a:rPr>
              <a:t>• The papers everyone cites for 1:4 never prescribed it — a 2008 field study got misread, and the misreading went viral.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0">
                <a:solidFill>
                  <a:srgbClr val="E8EEF5"/>
                </a:solidFill>
                <a:latin typeface="Helvetica"/>
              </a:rPr>
              <a:t>• Audubon, Cornell, the Smithsonian: all repeat 1:4, none cite the actual sucrose-preference research.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7DE39F"/>
                </a:solidFill>
                <a:latin typeface="Helvetica"/>
              </a:rPr>
              <a:t>• Blem et al. 2000 found hummingbirds prefer ~50% sucrose — and sits alone, essentially uncited.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FF7A7A"/>
                </a:solidFill>
                <a:latin typeface="Helvetica"/>
              </a:rPr>
              <a:t>• Result: a “rule of nature” that was never made by anyone. It mutated into existence.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ECBFF"/>
                </a:solidFill>
                <a:latin typeface="Helvetica"/>
              </a:rPr>
              <a:t>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5"/>
                </a:solidFill>
                <a:latin typeface="Helvetica"/>
              </a:rPr>
              <a:t>One claim, traced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7B5"/>
                </a:solidFill>
                <a:latin typeface="Helvetica"/>
              </a:rPr>
              <a:t>Live interactive graph — every node links to its real source.</a:t>
            </a:r>
          </a:p>
        </p:txBody>
      </p:sp>
      <p:pic>
        <p:nvPicPr>
          <p:cNvPr id="5" name="Picture 4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7498079" cy="46987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6760" y="18288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FF7A7A"/>
                </a:solidFill>
                <a:latin typeface="Helvetica"/>
              </a:rPr>
              <a:t>• Red (left): popularized claims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FFC86B"/>
                </a:solidFill>
                <a:latin typeface="Helvetica"/>
              </a:rPr>
              <a:t>• Center: the misread anchor paper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7DE39F"/>
                </a:solidFill>
                <a:latin typeface="Helvetica"/>
              </a:rPr>
              <a:t>• Right: overlooked evidence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8ECBFF"/>
                </a:solidFill>
                <a:latin typeface="Helvetica"/>
              </a:rPr>
              <a:t>• Far right: the isolated counter-truth, uncited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9AA7B5"/>
                </a:solidFill>
                <a:latin typeface="Helvetica"/>
              </a:rPr>
              <a:t>• Edge color = how faithful the citation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ECBFF"/>
                </a:solidFill>
                <a:latin typeface="Helvetica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5"/>
                </a:solidFill>
                <a:latin typeface="Helvetica"/>
              </a:rPr>
              <a:t>Graph database + LLM claim extraction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97480" cy="356616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ECBFF"/>
                </a:solidFill>
                <a:latin typeface="Helvetica"/>
              </a:rPr>
              <a:t>1 · 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8EEF5"/>
                </a:solidFill>
                <a:latin typeface="Helvetica"/>
              </a:rPr>
              <a:t>Chunk papers, posts &amp; pages. An LLM splits each chunk into verifiable claim triples (subject–predicate–object), tagged with source and 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783080"/>
            <a:ext cx="2697480" cy="356616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ECBFF"/>
                </a:solidFill>
                <a:latin typeface="Helvetica"/>
              </a:rPr>
              <a:t>2 ·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736" y="24231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8EEF5"/>
                </a:solidFill>
                <a:latin typeface="Helvetica"/>
              </a:rPr>
              <a:t>Claims, authors, publications = nodes. cites / supports / refutes = edges, in a graph DB (Neo4j/ArangoDB) + vector store for semantic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783080"/>
            <a:ext cx="2697480" cy="356616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ECBFF"/>
                </a:solidFill>
                <a:latin typeface="Helvetica"/>
              </a:rPr>
              <a:t>3 · Track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4231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8EEF5"/>
                </a:solidFill>
                <a:latin typeface="Helvetica"/>
              </a:rPr>
              <a:t>Every claim carries valid_from / valid_until. New evidence can flag an old claim as superseded — “what was consensus in 2010 vs today?”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07424" y="1783080"/>
            <a:ext cx="2697480" cy="356616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8592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ECBFF"/>
                </a:solidFill>
                <a:latin typeface="Helvetica"/>
              </a:rPr>
              <a:t>4 ·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24231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8EEF5"/>
                </a:solidFill>
                <a:latin typeface="Helvetica"/>
              </a:rPr>
              <a:t>New documents flow through the same pipeline continuously. No manual curation.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7B5"/>
                </a:solidFill>
                <a:latin typeface="Helvetica"/>
              </a:rPr>
              <a:t>Hybrid retrieval: vector similarity finds the claims, graph traversal shows the evidence 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ECBFF"/>
                </a:solidFill>
                <a:latin typeface="Helvetica"/>
              </a:rPr>
              <a:t>IT'S NOT ONE BAD APPLE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5"/>
                </a:solidFill>
                <a:latin typeface="Helvetica"/>
              </a:rPr>
              <a:t>Five “facts,” same pattern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43600"/>
              </a:tblGrid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8ECBFF"/>
                          </a:solidFill>
                          <a:latin typeface="Helvetica"/>
                        </a:rPr>
                        <a:t>Claim everyone repeats</a:t>
                      </a:r>
                    </a:p>
                  </a:txBody>
                  <a:tcPr marL="109728" marT="45720" marB="45720">
                    <a:solidFill>
                      <a:srgbClr val="1D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8ECBFF"/>
                          </a:solidFill>
                          <a:latin typeface="Helvetica"/>
                        </a:rPr>
                        <a:t>What the source actually said</a:t>
                      </a:r>
                    </a:p>
                  </a:txBody>
                  <a:tcPr marL="109728" marT="45720" marB="45720">
                    <a:solidFill>
                      <a:srgbClr val="1D273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5"/>
                          </a:solidFill>
                          <a:latin typeface="Helvetica"/>
                        </a:rPr>
                        <a:t>Hummingbird sugar water must be 1:4 (~20%)</a:t>
                      </a:r>
                    </a:p>
                  </a:txBody>
                  <a:tcPr marL="109728" marT="45720" marB="45720"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9AA7B5"/>
                          </a:solidFill>
                          <a:latin typeface="Helvetica"/>
                        </a:rPr>
                        <a:t>Cited papers never prescribed it; real preference data says ~50% — uncited</a:t>
                      </a:r>
                    </a:p>
                  </a:txBody>
                  <a:tcPr marL="109728" marT="45720" marB="45720">
                    <a:solidFill>
                      <a:srgbClr val="161D2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5"/>
                          </a:solidFill>
                          <a:latin typeface="Helvetica"/>
                        </a:rPr>
                        <a:t>You absorb only ~40g protein per meal</a:t>
                      </a:r>
                    </a:p>
                  </a:txBody>
                  <a:tcPr marL="109728" marT="45720" marB="45720"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9AA7B5"/>
                          </a:solidFill>
                          <a:latin typeface="Helvetica"/>
                        </a:rPr>
                        <a:t>A 20g plateau in six young men; later work found no upper limit</a:t>
                      </a:r>
                    </a:p>
                  </a:txBody>
                  <a:tcPr marL="109728" marT="45720" marB="45720">
                    <a:solidFill>
                      <a:srgbClr val="161D2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5"/>
                          </a:solidFill>
                          <a:latin typeface="Helvetica"/>
                        </a:rPr>
                        <a:t>Dunning-Kruger: least skilled are most overconfident</a:t>
                      </a:r>
                    </a:p>
                  </a:txBody>
                  <a:tcPr marL="109728" marT="45720" marB="45720"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9AA7B5"/>
                          </a:solidFill>
                          <a:latin typeface="Helvetica"/>
                        </a:rPr>
                        <a:t>Four small studies + an internet-fabricated curve; random noise reproduces it</a:t>
                      </a:r>
                    </a:p>
                  </a:txBody>
                  <a:tcPr marL="109728" marT="45720" marB="45720">
                    <a:solidFill>
                      <a:srgbClr val="161D2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5"/>
                          </a:solidFill>
                          <a:latin typeface="Helvetica"/>
                        </a:rPr>
                        <a:t>World's most expensive house: $4 billion</a:t>
                      </a:r>
                    </a:p>
                  </a:txBody>
                  <a:tcPr marL="109728" marT="45720" marB="45720"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9AA7B5"/>
                          </a:solidFill>
                          <a:latin typeface="Helvetica"/>
                        </a:rPr>
                        <a:t>A compounded projection; no $4B transaction has ever existed</a:t>
                      </a:r>
                    </a:p>
                  </a:txBody>
                  <a:tcPr marL="109728" marT="45720" marB="45720">
                    <a:solidFill>
                      <a:srgbClr val="161D2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EF5"/>
                          </a:solidFill>
                          <a:latin typeface="Helvetica"/>
                        </a:rPr>
                        <a:t>You need 10,000 steps a day</a:t>
                      </a:r>
                    </a:p>
                  </a:txBody>
                  <a:tcPr marL="109728" marT="45720" marB="45720"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9AA7B5"/>
                          </a:solidFill>
                          <a:latin typeface="Helvetica"/>
                        </a:rPr>
                        <a:t>A 1965 pedometer brand's product name; benefits plateau far lower</a:t>
                      </a:r>
                    </a:p>
                  </a:txBody>
                  <a:tcPr marL="109728" marT="45720" marB="45720">
                    <a:solidFill>
                      <a:srgbClr val="161D2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7A7A"/>
                </a:solidFill>
                <a:latin typeface="Helvetica"/>
              </a:rPr>
              <a:t>If five household “facts” collapse under tracing, the market is every claim on the internet.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ECBFF"/>
                </a:solidFill>
                <a:latin typeface="Helvetica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5"/>
                </a:solidFill>
                <a:latin typeface="Helvetica"/>
              </a:rPr>
              <a:t>GroundTruth: a claim tracker for your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0">
                <a:solidFill>
                  <a:srgbClr val="E8EEF5"/>
                </a:solidFill>
                <a:latin typeface="Helvetica"/>
              </a:rPr>
              <a:t>• Upload a corpus — a field's key papers, your own bibliography, a literature review.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0">
                <a:solidFill>
                  <a:srgbClr val="E8EEF5"/>
                </a:solidFill>
                <a:latin typeface="Helvetica"/>
              </a:rPr>
              <a:t>• Get back every claim, its origin, who mutated it, and who refuted it — as a time-aware graph.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E8EEF5"/>
                </a:solidFill>
                <a:latin typeface="Helvetica"/>
              </a:rPr>
              <a:t>• Authors see the ground truth behind claims they cite before they publish.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0">
                <a:solidFill>
                  <a:srgbClr val="E8EEF5"/>
                </a:solidFill>
                <a:latin typeface="Helvetica"/>
              </a:rPr>
              <a:t>• Journals &amp; platforms could check citations at review time instead of after.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0">
                <a:solidFill>
                  <a:srgbClr val="7DE39F"/>
                </a:solidFill>
                <a:latin typeface="Helvetica"/>
              </a:rPr>
              <a:t>• Built on open-source graph + LLM stack — no black box, reproducible end to 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ECBFF"/>
                </a:solidFill>
                <a:latin typeface="Helvetica"/>
              </a:rPr>
              <a:t>TARGET USERS · THE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5"/>
                </a:solidFill>
                <a:latin typeface="Helvetica"/>
              </a:rPr>
              <a:t>The tool finds its own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7B5"/>
                </a:solidFill>
                <a:latin typeface="Helvetica"/>
              </a:rPr>
              <a:t>Every paper that cites a mutated claim is a self-identifying lead.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0">
                <a:solidFill>
                  <a:srgbClr val="E8EEF5"/>
                </a:solidFill>
                <a:latin typeface="Helvetica"/>
              </a:rPr>
              <a:t>• The pipeline already surfaces dozens of papers supporting false claims — because the authors can't see how the claim evolved.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E8EEF5"/>
                </a:solidFill>
                <a:latin typeface="Helvetica"/>
              </a:rPr>
              <a:t>• Each one is a warm lead: an author who will discover GroundTruth by discovering their own citation is wrong.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0">
                <a:solidFill>
                  <a:srgbClr val="8ECBFF"/>
                </a:solidFill>
                <a:latin typeface="Helvetica"/>
              </a:rPr>
              <a:t>• Outreach writes itself: “your paper cites X — here is what the source actually found, and when the claim drifted.”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0">
                <a:solidFill>
                  <a:srgbClr val="E8EEF5"/>
                </a:solidFill>
                <a:latin typeface="Helvetica"/>
              </a:rPr>
              <a:t>• Same engine serves researchers, fact-checkers, journals, and eventually search/AI answer engines that need claim provenance.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49240"/>
            <a:ext cx="11064240" cy="91440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0468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C86B"/>
                </a:solidFill>
                <a:latin typeface="Helvetica"/>
              </a:rPr>
              <a:t>Finding users is not the hard part. The hard part is the one we already built.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ECBFF"/>
                </a:solidFill>
                <a:latin typeface="Helvetica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5"/>
                </a:solidFill>
                <a:latin typeface="Helvetica"/>
              </a:rPr>
              <a:t>Working prototype, not a mockup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6949440" cy="429768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6E3"/>
                </a:solidFill>
                <a:latin typeface="Menlo"/>
              </a:rPr>
              <a:t>// graph schema (backend/schema.cypher)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6E3"/>
                </a:solidFill>
                <a:latin typeface="Menlo"/>
              </a:rPr>
              <a:t>(:CaseStudy)-[:HAS_DOCUMENT]-&gt;(:Document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6E3"/>
                </a:solidFill>
                <a:latin typeface="Menlo"/>
              </a:rPr>
              <a:t>    {case_id, stance, authors, year, url})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6E3"/>
                </a:solidFill>
                <a:latin typeface="Menlo"/>
              </a:rPr>
              <a:t>(:Document)-[:CITES {strength, confidence,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6E3"/>
                </a:solidFill>
                <a:latin typeface="Menlo"/>
              </a:rPr>
              <a:t>    kind}]-&gt;(:Document)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6E3"/>
                </a:solidFill>
                <a:latin typeface="Menlo"/>
              </a:rPr>
              <a:t>(:Document)-[:CONTAINS_CLAIM]-&gt;(:Claim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6E3"/>
                </a:solidFill>
                <a:latin typeface="Menlo"/>
              </a:rPr>
              <a:t>    {text, semantic_type, ratio_value, valid_from})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6E3"/>
                </a:solidFill>
                <a:latin typeface="Menlo"/>
              </a:rPr>
              <a:t># ingestion: LLM chunks -&gt; claims -&gt; Aura  (import_backend.py)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6E3"/>
                </a:solidFill>
                <a:latin typeface="Menlo"/>
              </a:rPr>
              <a:t># case builder merges curated JSON -&gt; graph.json  (build_cases.py)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6E3"/>
                </a:solidFill>
                <a:latin typeface="Menlo"/>
              </a:rPr>
              <a:t># frontend: D3 force graph, one node per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92024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E8EEF5"/>
                </a:solidFill>
                <a:latin typeface="Helvetica"/>
              </a:rPr>
              <a:t>• Live demo + full source public on GitHub.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E8EEF5"/>
                </a:solidFill>
                <a:latin typeface="Helvetica"/>
              </a:rPr>
              <a:t>• Neo4j Aura graph: 5 cases, 63 documents, 71 scored citation edges.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E8EEF5"/>
                </a:solidFill>
                <a:latin typeface="Helvetica"/>
              </a:rPr>
              <a:t>• GraphRAG layer: 840 LLM-extracted claims from source PDFs.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7DE39F"/>
                </a:solidFill>
                <a:latin typeface="Helvetica"/>
              </a:rPr>
              <a:t>• Next: open-source pipeline (proposal in this folder).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EF5"/>
                </a:solidFill>
                <a:latin typeface="Helvetica"/>
              </a:rPr>
              <a:t>Claim provenance is a missing layer of the internet.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7B5"/>
                </a:solidFill>
                <a:latin typeface="Helvetica"/>
              </a:rPr>
              <a:t>We can already show a “rule of nature” that no one ever made.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7B5"/>
                </a:solidFill>
                <a:latin typeface="Helvetica"/>
              </a:rPr>
              <a:t>The product turns that into ground truth for every claim, in every field.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ECBFF"/>
                </a:solidFill>
                <a:latin typeface="Helvetica"/>
              </a:rPr>
              <a:t>In this folder: pitch deck · system architecture report · hummingbird trace report · source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685"/>
                </a:solidFill>
                <a:latin typeface="Helvetica"/>
              </a:rPr>
              <a:t>rowan121.github.io/they-say  ·  github.com/Rowan121/they-say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